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1280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3200" b="1"/>
            </a:pPr>
            <a:r>
              <a:t>RSA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0"/>
            <a:ext cx="941832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2000" b="0"/>
            </a:pPr>
            <a:r>
              <a:t>Информационная безопасность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/>
            </a:pPr>
            <a:r>
              <a:t>Алгоритмы генерации простых чисел и обратного элемента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5806440" cy="5120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700"/>
            </a:pPr>
            <a:r>
              <a:t>Генерация простых чисел — ключевая задача в криптографии. Наиболее простым способом является п…</a:t>
            </a:r>
          </a:p>
          <a:p>
            <a:pPr>
              <a:defRPr sz="1700"/>
            </a:pPr>
            <a:r>
              <a:t>Для ускорения часто используют решето Эратосфена. Алгоритм создаёт массив булевых флагов длино…</a:t>
            </a:r>
          </a:p>
          <a:p>
            <a:pPr>
              <a:defRPr sz="1700"/>
            </a:pPr>
            <a:r>
              <a:t>Когда требуется проверить простоту отдельного большого числа, применяют вероятностные тесты, н…</a:t>
            </a:r>
          </a:p>
          <a:p>
            <a:pPr>
              <a:defRPr sz="1700"/>
            </a:pPr>
            <a:r>
              <a:t>Для вычисления обратного элемента в поле вычетов по модулю простого p используется расширенный…</a:t>
            </a:r>
          </a:p>
          <a:p>
            <a:pPr>
              <a:defRPr sz="1700"/>
            </a:pPr>
            <a:r>
              <a:t>--</a:t>
            </a:r>
          </a:p>
        </p:txBody>
      </p:sp>
      <p:pic>
        <p:nvPicPr>
          <p:cNvPr id="4" name="Picture 3" descr="p0015_snap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4798" y="1325880"/>
            <a:ext cx="3461243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/>
            </a:pPr>
            <a:r>
              <a:t>Выбор открытого и закрытого ключей RSA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5806440" cy="5120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700"/>
            </a:pPr>
            <a:r>
              <a:t>Пара ключей RSA состоит из публичного (открытого) и приватного (закрытого) компонентов. Выбор…</a:t>
            </a:r>
          </a:p>
          <a:p>
            <a:pPr>
              <a:defRPr sz="1700"/>
            </a:pPr>
            <a:r>
              <a:t>Длина модуля.* Размер модуля измеряется в битах; он напрямую влияет на стойкость шифрования. Н…</a:t>
            </a:r>
          </a:p>
          <a:p>
            <a:pPr>
              <a:defRPr sz="1700"/>
            </a:pPr>
            <a:r>
              <a:t>Формат хранения.* Наиболее распространённые форматы — PEM (Base64‑закодированный DER) и DER (б…</a:t>
            </a:r>
          </a:p>
          <a:p>
            <a:pPr>
              <a:defRPr sz="1700"/>
            </a:pPr>
            <a:r>
              <a:t>Генерация случайных чисел.* Криптографически стойкие генераторы (CSPRNG) должны опираться на н…</a:t>
            </a:r>
          </a:p>
          <a:p>
            <a:pPr>
              <a:defRPr sz="1700"/>
            </a:pPr>
            <a:r>
              <a:t>Итоговый процесс выбора открытого и закрытого ключей RSA включает определение длины модуля, вы…</a:t>
            </a:r>
          </a:p>
        </p:txBody>
      </p:sp>
      <p:pic>
        <p:nvPicPr>
          <p:cNvPr id="4" name="Picture 3" descr="p0015_snap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4798" y="1325880"/>
            <a:ext cx="3461243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/>
            </a:pPr>
            <a:r>
              <a:t>Группы по умножению и теорема Лагранжа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5806440" cy="5120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700"/>
            </a:pPr>
            <a:r>
              <a:t>Группа по умножению — это алгебраическая структура (G,·), в которой операция «·» удовлетворяет…</a:t>
            </a:r>
          </a:p>
          <a:p>
            <a:pPr>
              <a:defRPr sz="1700"/>
            </a:pPr>
            <a:r>
              <a:t>1. Замкнутость: для любых a, b ∈ G произведение a·b также принадлежит G.</a:t>
            </a:r>
          </a:p>
          <a:p>
            <a:pPr>
              <a:defRPr sz="1700"/>
            </a:pPr>
            <a:r>
              <a:t>2. Ассоциативность: (a·b)·c = a·(b·c) для всех a, b, c ∈ G.</a:t>
            </a:r>
          </a:p>
          <a:p>
            <a:pPr>
              <a:defRPr sz="1700"/>
            </a:pPr>
            <a:r>
              <a:t>3. Единичный элемент: существует e ∈ G, такой что e·a = a·e = a для любого a ∈ G.</a:t>
            </a:r>
          </a:p>
          <a:p>
            <a:pPr>
              <a:defRPr sz="1700"/>
            </a:pPr>
            <a:r>
              <a:t>4. Обратный элемент: для каждого a ∈ G существует a⁻¹ со свойством a·a⁻¹ = a⁻¹·a = e.</a:t>
            </a:r>
          </a:p>
        </p:txBody>
      </p:sp>
      <p:pic>
        <p:nvPicPr>
          <p:cNvPr id="4" name="Picture 3" descr="p0015_snap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4798" y="1325880"/>
            <a:ext cx="3461243" cy="4892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