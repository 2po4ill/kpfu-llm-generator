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11"/>
    <p:sldId id="270" r:id="rId10"/>
    <p:sldId id="271" r:id="rId4"/>
    <p:sldId id="272" r:id="rId3"/>
    <p:sldId id="273" r:id="rId2"/>
    <p:sldId id="274" r:id="rId30"/>
  </p:sldIdLst>
  <p:sldSz cx="9144000" cy="5143500" type="screen16x9"/>
  <p:notesSz cx="6858000" cy="9144000"/>
  <p:embeddedFontLst>
    <p:embeddedFont>
      <p:font typeface="PT Sans" panose="020B0503020203020204" pitchFamily="34" charset="-52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gEAT52s/ekzjXPbZwD1+EDJoH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2E5F02-FF48-4402-B1A9-D084D85FFBCF}">
  <a:tblStyle styleId="{EB2E5F02-FF48-4402-B1A9-D084D85FFBC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CF4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8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slide" Target="slides/slide15.xml"/><Relationship Id="rId11" Type="http://schemas.openxmlformats.org/officeDocument/2006/relationships/slide" Target="slides/slide1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Объясните, как уровень воздействия влияет на приоритет исправления уязвимости.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Приведите примеры каждой категории и их влияние на план реагирования.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Подчеркните необходимость проверки всех трёх слоёв инфраструктуры.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Покажите, как эти стандарты помогают унифицировать оценку рисков.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Продемонстрируйте расчёт CVSS‑балла на примере известной уязвимости.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Объясните связь между угрозой, уязвимостью и риском.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Приведите примеры инсайдерских инцидентов и внешних атак.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Подчеркните необходимость комплексного подхода, охватывающего все три группы.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Свяжите каждую цель с соответствующей части CIA‑триады.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Обсудите, как уровень сложности влияет на выбор средств защиты и мониторинга.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Покажите, как каждая категория требует отдельного набора защитных мер.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Продемонстрируйте типичные сигналы обнаружения каждой атаки в SIEM.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Объясните роль WAF и статического анализа кода в предотвращении этих атак.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Подчеркните важность многофакторной аутентификации в снижении эффективности социальных атак.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Приведите пример сценария, где все три уровня работают совместно.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Опишите, как DevSecOps сокращает время от обнаружения до исправления уязвимости.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Подчеркните, как полученные знания помогут студентам в будущей профессиональной деятельности.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body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722312" y="2180033"/>
            <a:ext cx="7772401" cy="112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457200" y="1151333"/>
            <a:ext cx="404018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2"/>
          </p:nvPr>
        </p:nvSpPr>
        <p:spPr>
          <a:xfrm>
            <a:off x="4645026" y="1151333"/>
            <a:ext cx="404177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457201" y="204785"/>
            <a:ext cx="3008316" cy="87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2"/>
          </p:nvPr>
        </p:nvSpPr>
        <p:spPr>
          <a:xfrm>
            <a:off x="457198" y="1076326"/>
            <a:ext cx="3008318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3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3" cy="3086101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3" cy="60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3200" b="1"/>
            </a:pPr>
            <a:r>
              <a:t>Тема 2. Уязвимости, угрозы, атаки и их классификации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2000" b="0"/>
            </a:pPr>
            <a:r>
              <a:t>Информационная безопасность, 09.03.04 Программная инженерия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Классификация уязвимостей по уровню воздействия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Низкий уровень воздействия подразумевает ограниченный ущерб и требует сложных условий эксплуатации.</a:t>
            </a:r>
          </a:p>
          <a:p>
            <a:pPr>
              <a:defRPr sz="1700"/>
            </a:pPr>
            <a:r>
              <a:t>Средний уровень воздействия может вызвать частичную потерю данных или временный отказ сервисов.</a:t>
            </a:r>
          </a:p>
          <a:p>
            <a:pPr>
              <a:defRPr sz="1700"/>
            </a:pPr>
            <a:r>
              <a:t>Высокий уровень воздействия позволяет получить полный контроль над системой и нанести серьёзный финансовый ущерб.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Классификация уязвимостей по типу эксплуатации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Удалённые уязвимости могут быть использованы без физического доступа к целевой системе.</a:t>
            </a:r>
          </a:p>
          <a:p>
            <a:pPr>
              <a:defRPr sz="1700"/>
            </a:pPr>
            <a:r>
              <a:t>Локальные уязвимости требуют предварительного доступа, например, учётной записи с ограниченными правами.</a:t>
            </a:r>
          </a:p>
          <a:p>
            <a:pPr>
              <a:defRPr sz="1700"/>
            </a:pPr>
            <a:r>
              <a:t>Аутентификационные уязвимости позволяют обойти механизмы проверки подлинности и получить несанкционированный доступ.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Классификация уязвимостей по источнику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Программные уязвимости включают логические ошибки, переполнения буфера и уязвимости веб‑приложений.</a:t>
            </a:r>
          </a:p>
          <a:p>
            <a:pPr>
              <a:defRPr sz="1700"/>
            </a:pPr>
            <a:r>
              <a:t>Аппаратные уязвимости связаны с ошибками микропрограмм, сторонних чипов и спектральных атак.</a:t>
            </a:r>
          </a:p>
          <a:p>
            <a:pPr>
              <a:defRPr sz="1700"/>
            </a:pPr>
            <a:r>
              <a:t>Конфигурационные уязвимости возникают из‑за неверных настроек сервисов, открытых портов и слабых паролей.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Международные классификации уязвимостей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CWE (Common Weakness Enumeration) систематизирует типы слабостей, например CWE‑79 – XSS и CWE‑89 – SQL‑Injection.</a:t>
            </a:r>
          </a:p>
          <a:p>
            <a:pPr>
              <a:defRPr sz="1700"/>
            </a:pPr>
            <a:r>
              <a:t>OWASP Top 10 представляет наиболее критичные уязвимости веб‑приложений, такие как Broken Access Control и Security Misconfiguration.</a:t>
            </a:r>
          </a:p>
          <a:p>
            <a:pPr>
              <a:defRPr sz="1700"/>
            </a:pPr>
            <a:r>
              <a:t>CVSS (Common Vulnerability Scoring System) присваивает баллы, отражающие сложность эксплуатации и потенциальный ущерб.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CVSS – количественная оценка уязвимости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CVSS учитывает базовые метрики, такие как требуемый уровень привилегий и возможность удалённого выполнения кода.</a:t>
            </a:r>
          </a:p>
          <a:p>
            <a:pPr>
              <a:defRPr sz="1700"/>
            </a:pPr>
            <a:r>
              <a:t>Временные метрики отражают наличие доступных исправлений и степень эксплуатации уязвимости в реальном мире.</a:t>
            </a:r>
          </a:p>
          <a:p>
            <a:pPr>
              <a:defRPr sz="1700"/>
            </a:pPr>
            <a:r>
              <a:t>Полученный балл упрощает сравнение уязвимостей разных продуктов и формирует приоритеты патч‑менеджмента.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Угрозы – определение и значение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Угроза – потенциальное событие, способное нанести ущерб конфиденциальности, целостности или доступности информационных ресурсов.</a:t>
            </a:r>
          </a:p>
          <a:p>
            <a:pPr>
              <a:defRPr sz="1700"/>
            </a:pPr>
            <a:r>
              <a:t>Оценка угроз позволяет построить матрицу риска и выбрать адекватные контрмеры для защиты организации.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Классификация угроз по источнику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Внутренние угрозы исходят от сотрудников, подрядчиков или партнёров, имеющих легальный доступ к ресурсам.</a:t>
            </a:r>
          </a:p>
          <a:p>
            <a:pPr>
              <a:defRPr sz="1700"/>
            </a:pPr>
            <a:r>
              <a:t>Внешние угрозы представляют лица или группы без официального доступа, такие как киберпреступники и государственные акторы.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Классификация угроз по характеру воздействия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Технические угрозы используют уязвимости программного и аппаратного обеспечения, например вирусы и ransomware.</a:t>
            </a:r>
          </a:p>
          <a:p>
            <a:pPr>
              <a:defRPr sz="1700"/>
            </a:pPr>
            <a:r>
              <a:t>Социальные угрозы опираются на человеческий фактор, используя фишинг, предтекстинг и другие методы обмана.</a:t>
            </a:r>
          </a:p>
          <a:p>
            <a:pPr>
              <a:defRPr sz="1700"/>
            </a:pPr>
            <a:r>
              <a:t>Организационные угрозы возникают из‑за слабых политик, отсутствия контроля доступа и недостаточной подготовки персонала.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Классификация угроз по цели воздействия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Угрозы конфиденциальности направлены на кражу или раскрытие защищённых данных.</a:t>
            </a:r>
          </a:p>
          <a:p>
            <a:pPr>
              <a:defRPr sz="1700"/>
            </a:pPr>
            <a:r>
              <a:t>Угрозы целостности стремятся изменить, подделать или уничтожить информацию, нарушая её достоверность.</a:t>
            </a:r>
          </a:p>
          <a:p>
            <a:pPr>
              <a:defRPr sz="1700"/>
            </a:pPr>
            <a:r>
              <a:t>Угрозы доступности препятствуют законному использованию ресурсов, вызывая отказ в обслуживании или блокировку систем.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Классификация угроз по уровню сложности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Простые угрозы требуют минимальных навыков и часто используют готовые инструменты, такие как скрипты перебора паролей.</a:t>
            </a:r>
          </a:p>
          <a:p>
            <a:pPr>
              <a:defRPr sz="1700"/>
            </a:pPr>
            <a:r>
              <a:t>Сложные угрозы требуют глубоких знаний, специализированных эксплойтов нулевого дня и длительной подготовки, как в APT‑операциях.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Категории кибератак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Сетевые атаки направлены на инфраструктуру, включая DDoS, сканирование портов и перехват трафика.</a:t>
            </a:r>
          </a:p>
          <a:p>
            <a:pPr>
              <a:defRPr sz="1700"/>
            </a:pPr>
            <a:r>
              <a:t>Прикладные атаки эксплуатируют уязвимости в программном обеспечении, такие как SQL‑Injection, XSS и CSRF.</a:t>
            </a:r>
          </a:p>
          <a:p>
            <a:pPr>
              <a:defRPr sz="1700"/>
            </a:pPr>
            <a:r>
              <a:t>Социальные атаки используют психологические приёмы, включая фишинг, спуфинг и предтекстинг, для получения доступа к данным.</a:t>
            </a:r>
          </a:p>
        </p:txBody>
      </p:sp>
      <p:pic>
        <p:nvPicPr>
          <p:cNvPr id="4" name="Picture 3" descr="slide_7116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918309"/>
            <a:ext cx="4041648" cy="13023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45152" y="3977639"/>
            <a:ext cx="4041648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/>
            </a:pPr>
            <a:r>
              <a:t>Рис. 1 - Категории кибератак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Сетевые атаки и их защита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DDoS‑атаки перегружают сервисы запросами, вызывая отказ в обслуживании, и требуют распределённых фильтров трафика.</a:t>
            </a:r>
          </a:p>
          <a:p>
            <a:pPr>
              <a:defRPr sz="1700"/>
            </a:pPr>
            <a:r>
              <a:t>Сканирование портов выявляет открытые сервисы, позволяя подобрать уязвимости; защита реализуется firewall и ограничением доступа.</a:t>
            </a:r>
          </a:p>
          <a:p>
            <a:pPr>
              <a:defRPr sz="1700"/>
            </a:pPr>
            <a:r>
              <a:t>Man‑in‑the‑Middle перехватывает и изменяет данные, поэтому обязательным является шифрование TLS и проверка сертификатов.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Прикладные атаки и их защита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SQL‑Injection позволяет выполнить произвольные запросы к базе данных; предотвращается параметризованными запросами и проверкой ввода.</a:t>
            </a:r>
          </a:p>
          <a:p>
            <a:pPr>
              <a:defRPr sz="1700"/>
            </a:pPr>
            <a:r>
              <a:t>XSS внедряет вредоносный скрипт в веб‑страницу; защита включает экранирование вывода и политику Content‑Security‑Policy.</a:t>
            </a:r>
          </a:p>
          <a:p>
            <a:pPr>
              <a:defRPr sz="1700"/>
            </a:pPr>
            <a:r>
              <a:t>CSRF заставляет браузер выполнить нежелательное действие от имени пользователя; блокируется уникальными токенами и проверкой реферера.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Социальные атаки и их защита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Фишинг имитирует доверенный сервис, заставляя жертву раскрыть учётные данные; противодействие – обучение и фильтрация писем.</a:t>
            </a:r>
          </a:p>
          <a:p>
            <a:pPr>
              <a:defRPr sz="1700"/>
            </a:pPr>
            <a:r>
              <a:t>Спуфинг подделывает адрес отправителя или IP, обнаруживается проверкой DKIM/SPF и блокировкой подозрительных доменов.</a:t>
            </a:r>
          </a:p>
          <a:p>
            <a:pPr>
              <a:defRPr sz="1700"/>
            </a:pPr>
            <a:r>
              <a:t>Предтекстинг использует ложную историю для получения конфиденциальной информации; защита – строгие процедуры верификации запросов.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Трёхуровневый подход к защите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Превентивные меры включают шифрование, сегментацию сети и принцип наименьших привилегий, уменьшая поверхность атаки.</a:t>
            </a:r>
          </a:p>
          <a:p>
            <a:pPr>
              <a:defRPr sz="1700"/>
            </a:pPr>
            <a:r>
              <a:t>Детектирующие меры используют мониторинг аномалий, SIEM и машинное обучение для раннего обнаружения инцидентов.</a:t>
            </a:r>
          </a:p>
          <a:p>
            <a:pPr>
              <a:defRPr sz="1700"/>
            </a:pPr>
            <a:r>
              <a:t>Реактивные меры предусматривают изоляцию скомпрометированных узлов, восстановление из резервных копий и пост‑инцидентный анализ.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Интеграция DevSecOps в управление уязвимостями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Автоматические сканеры кода маркируют найденные дефекты согласно CWE, упрощая их приоритезацию.</a:t>
            </a:r>
          </a:p>
          <a:p>
            <a:pPr>
              <a:defRPr sz="1700"/>
            </a:pPr>
            <a:r>
              <a:t>CI/CD конвейер автоматически создаёт задачи в системе управления инцидентами с указанием CVSS‑балла.</a:t>
            </a:r>
          </a:p>
          <a:p>
            <a:pPr>
              <a:defRPr sz="1700"/>
            </a:pPr>
            <a:r>
              <a:t>Непрерывный мониторинг и обратная связь позволяют быстро закрывать уязвимости и повышать зрелость процессов.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Итоги и практическое значение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Систематизация уязвимостей, угроз и атак упрощает построение матриц риска и планирование защиты.</a:t>
            </a:r>
          </a:p>
          <a:p>
            <a:pPr>
              <a:defRPr sz="1700"/>
            </a:pPr>
            <a:r>
              <a:t>Применение классификаций и автоматизированных процессов ускоряет патч‑менеджмент и повышает устойчивость ИТ‑инфраструктуры.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3200" b="1"/>
            </a:pPr>
            <a:r>
              <a:t>Тема 2. Уязвимости, угрозы, атаки и их классификации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2000" b="0"/>
            </a:pPr>
            <a:r>
              <a:t>Информационная безопасность, 09.03.04 Программная инженерия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</Words>
  <Application>Microsoft Office PowerPoint</Application>
  <PresentationFormat>Экран (16:9)</PresentationFormat>
  <Paragraphs>33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Calibri</vt:lpstr>
      <vt:lpstr>PT Sans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Egor Devlicharov</cp:lastModifiedBy>
  <cp:revision>2</cp:revision>
  <dcterms:modified xsi:type="dcterms:W3CDTF">2026-05-19T08:01:29Z</dcterms:modified>
</cp:coreProperties>
</file>