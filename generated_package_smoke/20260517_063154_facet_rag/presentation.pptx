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RSA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Вспомогательные алгоритмы: генерация простых и расширенный Евклид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Для построения RSA‑ключей требуется два базовых инструмента: быстрый способ получения больших простых чисел и метод вычисления мультипликативных обратных элеме…</a:t>
            </a:r>
          </a:p>
          <a:p>
            <a:pPr>
              <a:defRPr sz="1800"/>
            </a:pPr>
            <a:r>
              <a:t>Генерация простых начинается с выбора случайного числа заданной битовой длины, после чего к нему последовательно применяют вероятностный тест простоты — наприм…</a:t>
            </a:r>
          </a:p>
          <a:p>
            <a:pPr>
              <a:defRPr sz="1800"/>
            </a:pPr>
            <a:r>
              <a:t>Расширенный алгоритм Евклида обобщает классический поиск НОД и возвращает коэффициенты x и y, удовлетворяющие уравнению ax + by = \gcd(a,b). При условии \gcd(a…</a:t>
            </a:r>
          </a:p>
          <a:p>
            <a:pPr>
              <a:defRPr sz="1800"/>
            </a:pPr>
            <a:r>
              <a:t>Совместное применение этих методов позволяет получить два больших простых числа p и q, вычислить \varphi(n) = (p-1)(q-1) и затем найти закрытый экспонент d, об…</a:t>
            </a:r>
          </a:p>
        </p:txBody>
      </p:sp>
      <p:pic>
        <p:nvPicPr>
          <p:cNvPr id="4" name="Picture 3" descr="p0015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303520" cy="74958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Генерация открытого и закрытого ключей RSA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Процесс создания ключевой пары начинается с генерации двух случайных простых чисел p и q общей битовой длины (обычно от 1024 до 4096 бит). Их произведение</a:t>
            </a:r>
          </a:p>
          <a:p>
            <a:pPr>
              <a:defRPr sz="1800"/>
            </a:pPr>
            <a:r>
              <a:t>служит модулем как открытого, так и закрытого ключа.</a:t>
            </a:r>
          </a:p>
          <a:p>
            <a:pPr>
              <a:defRPr sz="1800"/>
            </a:pPr>
            <a:r>
              <a:t>Далее вычисляется функция Эйлера</a:t>
            </a:r>
          </a:p>
          <a:p>
            <a:pPr>
              <a:defRPr sz="1800"/>
            </a:pPr>
            <a:r>
              <a:t>\varphi(n) = (p-1)(q-1).</a:t>
            </a:r>
          </a:p>
          <a:p>
            <a:pPr>
              <a:defRPr sz="1800"/>
            </a:pPr>
            <a:r>
              <a:t>Публичный экспонент e выбирается небольшим нечётным числом, взаимно простым с \varphi(n); в практике часто используют 65537, 257 или 3.</a:t>
            </a:r>
          </a:p>
        </p:txBody>
      </p:sp>
      <p:pic>
        <p:nvPicPr>
          <p:cNvPr id="4" name="Picture 3" descr="p0015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303520" cy="74958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Группы по умножению и теорема Лагранжа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В алгебре группа — это множество, снабжённое бинарной операцией, удовлетворяющей четырём аксиомам: замкнутости, ассоциативности, наличию нейтрального элемента…</a:t>
            </a:r>
          </a:p>
          <a:p>
            <a:pPr>
              <a:defRPr sz="1800"/>
            </a:pPr>
            <a:r>
              <a:t>Теорема Лагранжа утверждает, что порядок любой конечной группы делится на порядок её подгруппы. Применительно к (Z/pZ)^{\times} это означает, что каждый элемен…</a:t>
            </a:r>
          </a:p>
          <a:p>
            <a:pPr>
              <a:defRPr sz="1800"/>
            </a:pPr>
            <a:r>
              <a:t>RSA‑система опирается на выбор двух случайных больших простых чисел, их произведение служит модулем, а взаимно простый с функцией Эйлера публичный экспонент по…</a:t>
            </a:r>
          </a:p>
          <a:p>
            <a:pPr>
              <a:defRPr sz="1800"/>
            </a:pPr>
            <a:r>
              <a:t>--</a:t>
            </a:r>
          </a:p>
          <a:p>
            <a:pPr>
              <a:defRPr sz="1800"/>
            </a:pPr>
            <a:r>
              <a:t>Дата составления:* 17.05.2026</a:t>
            </a:r>
          </a:p>
        </p:txBody>
      </p:sp>
      <p:pic>
        <p:nvPicPr>
          <p:cNvPr id="4" name="Picture 3" descr="p0015_snap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40"/>
            <a:ext cx="5303520" cy="74958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