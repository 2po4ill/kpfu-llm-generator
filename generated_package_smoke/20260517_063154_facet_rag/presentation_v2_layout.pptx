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3200" b="1"/>
            </a:pPr>
            <a:r>
              <a:t>RSA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1832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0"/>
            </a:pPr>
            <a:r>
              <a:t>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/>
            </a:pPr>
            <a:r>
              <a:t>Вспомогательные алгоритмы: генерация простых и расширенный Евклид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/>
            </a:pPr>
            <a:r>
              <a:t>Для построения RSA‑ключей требуется два базовых инструмента: быстрый способ получения больших…</a:t>
            </a:r>
          </a:p>
          <a:p>
            <a:pPr>
              <a:defRPr sz="1700"/>
            </a:pPr>
            <a:r>
              <a:t>Генерация простых начинается с выбора случайного числа заданной битовой длины, после чего к не…</a:t>
            </a:r>
          </a:p>
          <a:p>
            <a:pPr>
              <a:defRPr sz="1700"/>
            </a:pPr>
            <a:r>
              <a:t>Расширенный алгоритм Евклида обобщает классический поиск НОД и возвращает коэффициенты x и y,…</a:t>
            </a:r>
          </a:p>
          <a:p>
            <a:pPr>
              <a:defRPr sz="1700"/>
            </a:pPr>
            <a:r>
              <a:t>Совместное применение этих методов позволяет получить два больших простых числа p и q, вычисли…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/>
            </a:pPr>
            <a:r>
              <a:t>Генерация открытого и закрытого ключей RSA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/>
            </a:pPr>
            <a:r>
              <a:t>Процесс создания ключевой пары начинается с генерации двух случайных простых чисел p и q общей…</a:t>
            </a:r>
          </a:p>
          <a:p>
            <a:pPr>
              <a:defRPr sz="1700"/>
            </a:pPr>
            <a:r>
              <a:t>служит модулем как открытого, так и закрытого ключа.</a:t>
            </a:r>
          </a:p>
          <a:p>
            <a:pPr>
              <a:defRPr sz="1700"/>
            </a:pPr>
            <a:r>
              <a:t>Далее вычисляется функция Эйлера</a:t>
            </a:r>
          </a:p>
          <a:p>
            <a:pPr>
              <a:defRPr sz="1700"/>
            </a:pPr>
            <a:r>
              <a:t>\varphi(n) = (p-1)(q-1).</a:t>
            </a:r>
          </a:p>
          <a:p>
            <a:pPr>
              <a:defRPr sz="1700"/>
            </a:pPr>
            <a:r>
              <a:t>Публичный экспонент e выбирается небольшим нечётным числом, взаимно простым с \varphi(n); в пр…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/>
            </a:pPr>
            <a:r>
              <a:t>Группы по умножению и теорема Лагранжа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/>
            </a:pPr>
            <a:r>
              <a:t>В алгебре группа — это множество, снабжённое бинарной операцией, удовлетворяющей четырём аксио…</a:t>
            </a:r>
          </a:p>
          <a:p>
            <a:pPr>
              <a:defRPr sz="1700"/>
            </a:pPr>
            <a:r>
              <a:t>Теорема Лагранжа утверждает, что порядок любой конечной группы делится на порядок её подгруппы…</a:t>
            </a:r>
          </a:p>
          <a:p>
            <a:pPr>
              <a:defRPr sz="1700"/>
            </a:pPr>
            <a:r>
              <a:t>RSA‑система опирается на выбор двух случайных больших простых чисел, их произведение служит мо…</a:t>
            </a:r>
          </a:p>
          <a:p>
            <a:pPr>
              <a:defRPr sz="1700"/>
            </a:pPr>
            <a:r>
              <a:t>--</a:t>
            </a:r>
          </a:p>
          <a:p>
            <a:pPr>
              <a:defRPr sz="1700"/>
            </a:pPr>
            <a:r>
              <a:t>Дата составления:* 17.05.2026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