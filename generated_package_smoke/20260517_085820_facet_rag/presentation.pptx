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Кратко объясните, почему RSA называют «асимметричной» и какие задачи решает в реальных системах защиты.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Подчеркните связь между теорией чисел и безопасностью RSA; упомяните свойства кольца Zₙ.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Объясните, почему важно использовать криптографически стойкий генератор и достаточное количество раундов MR.</a:t>
            </a:r>
          </a:p>
          <a:p>
            <a:r>
              <a:t>Mermaid: установите mmdc (npm i -g @mermaid-js/mermaid-cli).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Покажите, как из найденных простых получаются все остальные параметры; упомяните, зачем нужны CRT‑коэффициенты.</a:t>
            </a:r>
          </a:p>
          <a:p>
            <a:r>
              <a:t>Mermaid: установите mmdc (npm i -g @mermaid-js/mermaid-cli).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Отметьте, что открытый ключ может свободно распространяться, а закрытый должен храниться в защищённом виде.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Продемонстрируйте, как алгоритм уменьшает количество умножений с O(e) до O(log e).</a:t>
            </a:r>
          </a:p>
          <a:p>
            <a:r>
              <a:t>Mermaid: установите mmdc (npm i -g @mermaid-js/mermaid-cli).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Сравните влияние длины ключа на время генерации и на время шифрования/расшифрования.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Подчеркните, что большинство практических атак используют слабости в реализации, а не в математике 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Перечислите основные протоколы и стандарты, где RSA является обязательным элементом.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Подведите итоги лекции, акцентируя важность правильной генерации параметров и актуальность RSA в современной кибербезопасности.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ns1="http://schemas.openxmlformats.org/drawingml/2006/main" xmlns:ns2="http://schemas.microsoft.com/office/powerpoint/2010/main" xmlns:p="http://schemas.openxmlformats.org/presentationml/2006/main" type="title" preserve="1">
  <p:cSld name="Титульный"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Title 1"/>
          <p:cNvSpPr>
            <ns1:spLocks noGrp="1"/>
          </p:cNvSpPr>
          <p:nvPr>
            <p:ph type="ctrTitle"/>
          </p:nvPr>
        </p:nvSpPr>
        <p:spPr>
          <ns1:xfrm>
            <ns1:off x="685800" y="2130425"/>
            <ns1:ext cx="7772400" cy="1470025"/>
          </ns1:xfrm>
        </p:spPr>
        <p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p:txBody>
      </p:sp>
      <p:sp>
        <p:nvSpPr>
          <p:cNvPr id="3" name="Subtitle 2"/>
          <p:cNvSpPr>
            <ns1:spLocks noGrp="1"/>
          </p:cNvSpPr>
          <p:nvPr>
            <p:ph type="subTitle" idx="1"/>
          </p:nvPr>
        </p:nvSpPr>
        <p:spPr>
          <ns1:xfrm>
            <ns1:off x="1371600" y="3886200"/>
            <ns1:ext cx="6400800" cy="1752600"/>
          </ns1:xfrm>
        </p:spPr>
        <p:txBody>
          <ns1:bodyPr/>
          <ns1:lstStyle>
            <ns1:lvl1pPr marL="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r>
              <ns1:rPr lang="en-US" smtClean="0"/>
              <ns1:t>Click to edit Master subtitle style</ns1:t>
            </ns1:r>
            <ns1:endParaRPr lang="en-US"/>
          </ns1:p>
        </p:txBody>
      </p:sp>
      <p:sp>
        <p:nvSpPr>
          <p:cNvPr id="4" name="Date Placeholder 3"/>
          <p:cNvSpPr>
            <ns1:spLocks noGrp="1"/>
          </p:cNvSpPr>
          <p:nvPr>
            <p:ph type="dt" sz="half" idx="10"/>
          </p:nvPr>
        </p:nvSpPr>
        <p:spPr/>
        <p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p:txBody>
      </p:sp>
      <p:sp>
        <p:nvSpPr>
          <p:cNvPr id="5" name="Footer Placeholder 4"/>
          <p:cNvSpPr>
            <ns1:spLocks noGrp="1"/>
          </p:cNvSpPr>
          <p:nvPr>
            <p:ph type="ftr" sz="quarter" idx="11"/>
          </p:nvPr>
        </p:nvSpPr>
        <p:spPr/>
        <p:txBody>
          <ns1:bodyPr/>
          <ns1:lstStyle/>
          <ns1:p>
            <ns1:endParaRPr lang="en-US"/>
          </ns1:p>
        </p:txBody>
      </p:sp>
      <p:sp>
        <p:nvSpPr>
          <p:cNvPr id="6" name="Slide Number Placeholder 5"/>
          <p:cNvSpPr>
            <ns1:spLocks noGrp="1"/>
          </p:cNvSpPr>
          <p:nvPr>
            <p:ph type="sldNum" sz="quarter" idx="12"/>
          </p:nvPr>
        </p:nvSpPr>
        <p:spPr/>
        <p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p:txBody>
      </p:sp>
    </p:spTree>
    <p:extLst>
      <p:ext uri="{BB962C8B-B14F-4D97-AF65-F5344CB8AC3E}">
        <ns2:creationId val="3168075583"/>
      </p:ext>
    </p:extLst>
  </p:cSld>
  <p:clrMapOvr>
    <ns1:masterClrMapping/>
  </p:clrMapOvr>
</p:sldLayout>
</file>

<file path=ppt/slideLayouts/slideLayout2.xml><?xml version="1.0" encoding="utf-8"?>
<p:sldLayout xmlns:ns1="http://schemas.openxmlformats.org/drawingml/2006/main" xmlns:ns2="http://schemas.microsoft.com/office/powerpoint/2010/main" xmlns:p="http://schemas.openxmlformats.org/presentationml/2006/main" type="obj" preserve="1">
  <p:cSld name="Только текст"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Title 1"/>
          <p:cNvSpPr>
            <ns1:spLocks noGrp="1"/>
          </p:cNvSpPr>
          <p:nvPr>
            <p:ph type="title"/>
          </p:nvPr>
        </p:nvSpPr>
        <p:spPr/>
        <p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p:txBody>
      </p:sp>
      <p:sp>
        <p:nvSpPr>
          <p:cNvPr id="3" name="Content Placeholder 2"/>
          <p:cNvSpPr>
            <ns1:spLocks noGrp="1"/>
          </p:cNvSpPr>
          <p:nvPr>
            <p:ph idx="1"/>
          </p:nvPr>
        </p:nvSpPr>
        <p:spPr/>
        <p:txBody>
          <ns1:bodyPr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p:txBody>
      </p:sp>
      <p:sp>
        <p:nvSpPr>
          <p:cNvPr id="4" name="Date Placeholder 3"/>
          <p:cNvSpPr>
            <ns1:spLocks noGrp="1"/>
          </p:cNvSpPr>
          <p:nvPr>
            <p:ph type="dt" sz="half" idx="10"/>
          </p:nvPr>
        </p:nvSpPr>
        <p:spPr/>
        <p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p:txBody>
      </p:sp>
      <p:sp>
        <p:nvSpPr>
          <p:cNvPr id="5" name="Footer Placeholder 4"/>
          <p:cNvSpPr>
            <ns1:spLocks noGrp="1"/>
          </p:cNvSpPr>
          <p:nvPr>
            <p:ph type="ftr" sz="quarter" idx="11"/>
          </p:nvPr>
        </p:nvSpPr>
        <p:spPr/>
        <p:txBody>
          <ns1:bodyPr/>
          <ns1:lstStyle/>
          <ns1:p>
            <ns1:endParaRPr lang="en-US"/>
          </ns1:p>
        </p:txBody>
      </p:sp>
      <p:sp>
        <p:nvSpPr>
          <p:cNvPr id="6" name="Slide Number Placeholder 5"/>
          <p:cNvSpPr>
            <ns1:spLocks noGrp="1"/>
          </p:cNvSpPr>
          <p:nvPr>
            <p:ph type="sldNum" sz="quarter" idx="12"/>
          </p:nvPr>
        </p:nvSpPr>
        <p:spPr/>
        <p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p:txBody>
      </p:sp>
    </p:spTree>
    <p:extLst>
      <p:ext uri="{BB962C8B-B14F-4D97-AF65-F5344CB8AC3E}">
        <ns2:creationId val="2614314258"/>
      </p:ext>
    </p:extLst>
  </p:cSld>
  <p:clrMapOvr>
    <ns1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ns1="http://schemas.openxmlformats.org/drawingml/2006/main" xmlns:ns2="http://schemas.microsoft.com/office/powerpoint/2010/main" xmlns:p="http://schemas.openxmlformats.org/presentationml/2006/main" type="picTx" preserve="1">
  <p:cSld name="Текст с изображением"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Title 1"/>
          <p:cNvSpPr>
            <ns1:spLocks noGrp="1"/>
          </p:cNvSpPr>
          <p:nvPr>
            <p:ph type="title"/>
          </p:nvPr>
        </p:nvSpPr>
        <p:spPr>
          <ns1:xfrm>
            <ns1:off x="1792288" y="4800600"/>
            <ns1:ext cx="5486400" cy="566738"/>
          </ns1:xfrm>
        </p:spPr>
        <p:txBody>
          <ns1:bodyPr anchor="b"/>
          <ns1:lstStyle>
            <ns1:lvl1pPr algn="l">
              <ns1:defRPr sz="2000" b="1"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p:txBody>
      </p:sp>
      <p:sp>
        <p:nvSpPr>
          <p:cNvPr id="3" name="Picture Placeholder 2"/>
          <p:cNvSpPr>
            <ns1:spLocks noGrp="1"/>
          </p:cNvSpPr>
          <p:nvPr>
            <p:ph type="pic" idx="1"/>
          </p:nvPr>
        </p:nvSpPr>
        <p:spPr>
          <ns1:xfrm>
            <ns1:off x="1792288" y="612775"/>
            <ns1:ext cx="5486400" cy="4114800"/>
          </ns1:xfrm>
        </p:spPr>
        <p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en-US"/>
          </ns1:p>
        </p:txBody>
      </p:sp>
      <p:sp>
        <p:nvSpPr>
          <p:cNvPr id="4" name="Text Placeholder 3"/>
          <p:cNvSpPr>
            <ns1:spLocks noGrp="1"/>
          </p:cNvSpPr>
          <p:nvPr>
            <p:ph type="body" sz="half" idx="2"/>
          </p:nvPr>
        </p:nvSpPr>
        <p:spPr>
          <ns1:xfrm>
            <ns1:off x="1792288" y="5367338"/>
            <ns1:ext cx="5486400" cy="804862"/>
          </ns1:xfrm>
        </p:spPr>
        <p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p:txBody>
      </p:sp>
      <p:sp>
        <p:nvSpPr>
          <p:cNvPr id="5" name="Date Placeholder 4"/>
          <p:cNvSpPr>
            <ns1:spLocks noGrp="1"/>
          </p:cNvSpPr>
          <p:nvPr>
            <p:ph type="dt" sz="half" idx="10"/>
          </p:nvPr>
        </p:nvSpPr>
        <p:spPr/>
        <p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p:txBody>
      </p:sp>
      <p:sp>
        <p:nvSpPr>
          <p:cNvPr id="6" name="Footer Placeholder 5"/>
          <p:cNvSpPr>
            <ns1:spLocks noGrp="1"/>
          </p:cNvSpPr>
          <p:nvPr>
            <p:ph type="ftr" sz="quarter" idx="11"/>
          </p:nvPr>
        </p:nvSpPr>
        <p:spPr/>
        <p:txBody>
          <ns1:bodyPr/>
          <ns1:lstStyle/>
          <ns1:p>
            <ns1:endParaRPr lang="en-US"/>
          </ns1:p>
        </p:txBody>
      </p:sp>
      <p:sp>
        <p:nvSpPr>
          <p:cNvPr id="7" name="Slide Number Placeholder 6"/>
          <p:cNvSpPr>
            <ns1:spLocks noGrp="1"/>
          </p:cNvSpPr>
          <p:nvPr>
            <p:ph type="sldNum" sz="quarter" idx="12"/>
          </p:nvPr>
        </p:nvSpPr>
        <p:spPr/>
        <p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p:txBody>
      </p:sp>
    </p:spTree>
    <p:extLst>
      <p:ext uri="{BB962C8B-B14F-4D97-AF65-F5344CB8AC3E}">
        <ns2:creationId val="3889236939"/>
      </p:ext>
    </p:extLst>
  </p:cSld>
  <p:clrMapOvr>
    <ns1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>
              <a:defRPr sz="3200"/>
            </a:pPr>
            <a:r>
              <a:t>RSA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>
              <a:defRPr sz="2000"/>
            </a:pPr>
            <a:r>
              <a:t>Информационная безопасность / 09.03.04 Программная инженерия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/>
            </a:pPr>
            <a:r>
              <a:t>Что такое RSA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 wrap="square">
            <a:noAutofit/>
          </a:bodyPr>
          <a:p>
            <a:pPr>
              <a:defRPr sz="1700"/>
            </a:pPr>
            <a:r>
              <a:t>Асимметричная криптосистема с открытым и закрытым ключом</a:t>
            </a:r>
          </a:p>
          <a:p>
            <a:pPr>
              <a:defRPr sz="1700"/>
            </a:pPr>
            <a:r>
              <a:t>Основана на факторизации произведения двух больших простых</a:t>
            </a:r>
          </a:p>
          <a:p>
            <a:pPr>
              <a:defRPr sz="1700"/>
            </a:pPr>
            <a:r>
              <a:t>Обеспечивает конфиденциальность и подлинность без предварительного обмена ключами</a:t>
            </a:r>
          </a:p>
          <a:p>
            <a:pPr>
              <a:defRPr sz="1700"/>
            </a:pPr>
            <a:r>
              <a:t>Широко используется в TLS, VPN, цифровой подписи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page_0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798" y="1325880"/>
            <a:ext cx="346124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/>
            </a:pPr>
            <a:r>
              <a:t>Математический фундамент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 wrap="square">
            <a:noAutofit/>
          </a:bodyPr>
          <a:p>
            <a:pPr>
              <a:defRPr sz="1700"/>
            </a:pPr>
            <a:r>
              <a:t>Модульная арифметика: операции «mod n»</a:t>
            </a:r>
          </a:p>
          <a:p>
            <a:pPr>
              <a:defRPr sz="1700"/>
            </a:pPr>
            <a:r>
              <a:t>Функция Эйлера φ(n) = (p‑1)(q‑1)</a:t>
            </a:r>
          </a:p>
          <a:p>
            <a:pPr>
              <a:defRPr sz="1700"/>
            </a:pPr>
            <a:r>
              <a:t>Трудность факторизации больших целых чисел</a:t>
            </a:r>
          </a:p>
          <a:p>
            <a:pPr>
              <a:defRPr sz="1700"/>
            </a:pPr>
            <a:r>
              <a:t>Простые числа p и q – базовые параметры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page_0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798" y="1325880"/>
            <a:ext cx="346124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/>
            </a:pPr>
            <a:r>
              <a:t>Генерация простых чисел p и q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 wrap="square">
            <a:noAutofit/>
          </a:bodyPr>
          <a:p>
            <a:pPr>
              <a:defRPr sz="1700"/>
            </a:pPr>
            <a:r>
              <a:t>Задаётся требуемая длина модуля n (например, 2048 бит)</a:t>
            </a:r>
          </a:p>
          <a:p>
            <a:pPr>
              <a:defRPr sz="1700"/>
            </a:pPr>
            <a:r>
              <a:t>Генерируется нечётный кандидат нужной битовой длины</a:t>
            </a:r>
          </a:p>
          <a:p>
            <a:pPr>
              <a:defRPr sz="1700"/>
            </a:pPr>
            <a:r>
              <a:t>Быстрая проверка делимости на малые простые</a:t>
            </a:r>
          </a:p>
          <a:p>
            <a:pPr>
              <a:defRPr sz="1700"/>
            </a:pPr>
            <a:r>
              <a:t>Вероятностный тест Миллера‑Рабина (40‑64 раундов)</a:t>
            </a:r>
          </a:p>
          <a:p>
            <a:pPr>
              <a:defRPr sz="1700"/>
            </a:pPr>
            <a:r>
              <a:t>Повторять до получения двух различных простых p ≠ q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rebuild_45794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703" y="1325880"/>
            <a:ext cx="241943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/>
            </a:pPr>
            <a:r>
              <a:t>Построение параметров RSA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 wrap="square">
            <a:noAutofit/>
          </a:bodyPr>
          <a:p>
            <a:pPr>
              <a:defRPr sz="1700"/>
            </a:pPr>
            <a:r>
              <a:t>n = p·q – модуль открытого и закрытого ключей</a:t>
            </a:r>
          </a:p>
          <a:p>
            <a:pPr>
              <a:defRPr sz="1700"/>
            </a:pPr>
            <a:r>
              <a:t>φ(n) = (p‑1)(q‑1) – функция Эйлера</a:t>
            </a:r>
          </a:p>
          <a:p>
            <a:pPr>
              <a:defRPr sz="1700"/>
            </a:pPr>
            <a:r>
              <a:t>Выбирается открытая экспонента e (обычно 65537)</a:t>
            </a:r>
          </a:p>
          <a:p>
            <a:pPr>
              <a:defRPr sz="1700"/>
            </a:pPr>
            <a:r>
              <a:t>d = e⁻¹ mod φ(n) – закрытая экспонента</a:t>
            </a:r>
          </a:p>
          <a:p>
            <a:pPr>
              <a:defRPr sz="1700"/>
            </a:pPr>
            <a:r>
              <a:t>Опционально: параметры CRT (dp, dq, qInv)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rebuild_42052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267" y="1325880"/>
            <a:ext cx="211630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/>
            </a:pPr>
            <a:r>
              <a:t>Структура ключей RSA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 wrap="square">
            <a:noAutofit/>
          </a:bodyPr>
          <a:p>
            <a:pPr>
              <a:defRPr sz="1700"/>
            </a:pPr>
            <a:r>
              <a:t>Открытый ключ: (n, e)</a:t>
            </a:r>
          </a:p>
          <a:p>
            <a:pPr>
              <a:defRPr sz="1700"/>
            </a:pPr>
            <a:r>
              <a:t>Закрытый ключ: (n, d) + CRT‑параметры</a:t>
            </a:r>
          </a:p>
          <a:p>
            <a:pPr>
              <a:defRPr sz="1700"/>
            </a:pPr>
            <a:r>
              <a:t>Размер ключа измеряется в битах (2048, 3072, 4096 …)</a:t>
            </a:r>
          </a:p>
          <a:p>
            <a:pPr>
              <a:defRPr sz="1700"/>
            </a:pPr>
            <a:r>
              <a:t>Хранение в форматах PEM или DER</a:t>
            </a:r>
          </a:p>
          <a:p>
            <a:pPr>
              <a:defRPr sz="1700"/>
            </a:pPr>
            <a:r>
              <a:t>Тестовое шифрование‑расшифрование перед использованием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page_0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798" y="1325880"/>
            <a:ext cx="346124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/>
            </a:pPr>
            <a:r>
              <a:t>Быстрое возведение в степень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 wrap="square">
            <a:noAutofit/>
          </a:bodyPr>
          <a:p>
            <a:pPr>
              <a:defRPr sz="1700"/>
            </a:pPr>
            <a:r>
              <a:t>Бинарный (логарифмический) метод</a:t>
            </a:r>
          </a:p>
          <a:p>
            <a:pPr>
              <a:defRPr sz="1700"/>
            </a:pPr>
            <a:r>
              <a:t>За каждый бит экспоненты – одно умножение и одно квадратирование</a:t>
            </a:r>
          </a:p>
          <a:p>
            <a:pPr>
              <a:defRPr sz="1700"/>
            </a:pPr>
            <a:r>
              <a:t>Операции выполняются «mod n» после каждого шага</a:t>
            </a:r>
          </a:p>
          <a:p>
            <a:pPr>
              <a:defRPr sz="1700"/>
            </a:pPr>
            <a:r>
              <a:t>Шифрование: C = M^e mod n</a:t>
            </a:r>
          </a:p>
          <a:p>
            <a:pPr>
              <a:defRPr sz="1700"/>
            </a:pPr>
            <a:r>
              <a:t>Расшифрование: M = C^d mod 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rebuild_477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750" y="1325880"/>
            <a:ext cx="305533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/>
            </a:pPr>
            <a:r>
              <a:t>Рекомендованные размеры ключей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Минимум 2048 бит – текущий стандарт для большинства приложений</a:t>
            </a:r>
          </a:p>
          <a:p>
            <a:pPr>
              <a:defRPr sz="1700"/>
            </a:pPr>
            <a:r>
              <a:t>3072 бит – повышенная безопасность для долгосрочного хранения</a:t>
            </a:r>
          </a:p>
          <a:p>
            <a:pPr>
              <a:defRPr sz="1700"/>
            </a:pPr>
            <a:r>
              <a:t>4096 бит и более – для особо чувствительных данных</a:t>
            </a:r>
          </a:p>
          <a:p>
            <a:pPr>
              <a:defRPr sz="1700"/>
            </a:pPr>
            <a:r>
              <a:t>Больший размер повышает стойкость, но увеличивает вычислительные затраты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/>
            </a:pPr>
            <a:r>
              <a:t>Угрозы и ошибки реализации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 wrap="square">
            <a:noAutofit/>
          </a:bodyPr>
          <a:p>
            <a:pPr>
              <a:defRPr sz="1700"/>
            </a:pPr>
            <a:r>
              <a:t>Слабый генератор случайных чисел → предсказуемые p, q</a:t>
            </a:r>
          </a:p>
          <a:p>
            <a:pPr>
              <a:defRPr sz="1700"/>
            </a:pPr>
            <a:r>
              <a:t>Недостаточное количество раундов Miller‑Rabin → составные «простые»</a:t>
            </a:r>
          </a:p>
          <a:p>
            <a:pPr>
              <a:defRPr sz="1700"/>
            </a:pPr>
            <a:r>
              <a:t>Малый закрытый экспонент d → атака с малыми d</a:t>
            </a:r>
          </a:p>
          <a:p>
            <a:pPr>
              <a:defRPr sz="1700"/>
            </a:pPr>
            <a:r>
              <a:t>Слишком близкие p и q → ускоренный поиск факторизации</a:t>
            </a:r>
          </a:p>
          <a:p>
            <a:pPr>
              <a:defRPr sz="1700"/>
            </a:pPr>
            <a:r>
              <a:t>Отсутствие проверок CRT‑коэффициентов → возможные ошибки расшифрования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page_0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798" y="1325880"/>
            <a:ext cx="346124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/>
            </a:pPr>
            <a:r>
              <a:t>Применения RSA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TLS/HTTPS – обмен симметричным ключом</a:t>
            </a:r>
          </a:p>
          <a:p>
            <a:pPr>
              <a:defRPr sz="1700"/>
            </a:pPr>
            <a:r>
              <a:t>VPN‑соединения (IPsec, OpenVPN)</a:t>
            </a:r>
          </a:p>
          <a:p>
            <a:pPr>
              <a:defRPr sz="1700"/>
            </a:pPr>
            <a:r>
              <a:t>Цифровая подпись (PKCS#1, XML‑DSig)</a:t>
            </a:r>
          </a:p>
          <a:p>
            <a:pPr>
              <a:defRPr sz="1700"/>
            </a:pPr>
            <a:r>
              <a:t>S/MIME – защита электронной почты</a:t>
            </a:r>
          </a:p>
          <a:p>
            <a:pPr>
              <a:defRPr sz="1700"/>
            </a:pPr>
            <a:r>
              <a:t>Инфраструктура открытых ключей (PKI) и сертификаты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/>
            </a:pPr>
            <a:r>
              <a:t>Краткое резюме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RSA – асимметричная система, основанная на факторизации</a:t>
            </a:r>
          </a:p>
          <a:p>
            <a:pPr>
              <a:defRPr sz="1700"/>
            </a:pPr>
            <a:r>
              <a:t>Ключевая пара генерируется из двух больших простых чисел</a:t>
            </a:r>
          </a:p>
          <a:p>
            <a:pPr>
              <a:defRPr sz="1700"/>
            </a:pPr>
            <a:r>
              <a:t>Безопасность зависит от длины модуля и качества параметров</a:t>
            </a:r>
          </a:p>
          <a:p>
            <a:pPr>
              <a:defRPr sz="1700"/>
            </a:pPr>
            <a:r>
              <a:t>Алгоритмы генерации и возведения в степень реализованы эффективно</a:t>
            </a:r>
          </a:p>
          <a:p>
            <a:pPr>
              <a:defRPr sz="1700"/>
            </a:pPr>
            <a:r>
              <a:t>Широко применяется в протоколах защиты и цифровой подписи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>
              <a:defRPr sz="3200"/>
            </a:pPr>
            <a:r>
              <a:t>RSA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>
              <a:defRPr sz="2000"/>
            </a:pPr>
            <a:r>
              <a:t>Информационная безопасность / 09.03.04 Программная инженерия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